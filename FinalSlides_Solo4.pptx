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swald SemiBold"/>
      <p:regular r:id="rId20"/>
      <p:bold r:id="rId21"/>
    </p:embeddedFont>
    <p:embeddedFont>
      <p:font typeface="Oswald"/>
      <p:regular r:id="rId22"/>
      <p:bold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SemiBold-regular.fntdata"/><Relationship Id="rId22" Type="http://schemas.openxmlformats.org/officeDocument/2006/relationships/font" Target="fonts/Oswald-regular.fntdata"/><Relationship Id="rId21" Type="http://schemas.openxmlformats.org/officeDocument/2006/relationships/font" Target="fonts/OswaldSemiBold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5e9182e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5e9182e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0f0643e7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0f0643e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5e9182e4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5e9182e4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0f0643e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0f0643e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e9182e4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5e9182e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5e9182e4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5e9182e4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5e9182e4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5e9182e4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e9182e4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5e9182e4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5e9182e4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5e9182e4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5e9182e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5e9182e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0f0643e7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0f0643e7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5e9182e4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5e9182e4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0f0643e7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0f0643e7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58125" y="210725"/>
            <a:ext cx="6736200" cy="1257000"/>
          </a:xfrm>
          <a:prstGeom prst="rect">
            <a:avLst/>
          </a:prstGeom>
          <a:solidFill>
            <a:srgbClr val="EEEEEE">
              <a:alpha val="75320"/>
            </a:srgbClr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latin typeface="Oswald"/>
                <a:ea typeface="Oswald"/>
                <a:cs typeface="Oswald"/>
                <a:sym typeface="Oswald"/>
              </a:rPr>
              <a:t>Multiple Linear Regression Analysis</a:t>
            </a:r>
            <a:endParaRPr b="1" sz="35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latin typeface="Oswald"/>
                <a:ea typeface="Oswald"/>
                <a:cs typeface="Oswald"/>
                <a:sym typeface="Oswald"/>
              </a:rPr>
              <a:t>on Bank Data</a:t>
            </a:r>
            <a:endParaRPr b="1" sz="35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468050"/>
            <a:ext cx="8520600" cy="494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Leveraging Data to Help Increase Sales Through Predictive Analytics</a:t>
            </a:r>
            <a:endParaRPr b="1" sz="17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621350" y="3726650"/>
            <a:ext cx="2043600" cy="9087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Presented By: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Mashiyat Alam Promi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Group: Solo 4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52300" y="512000"/>
            <a:ext cx="70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Project Goal</a:t>
            </a: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065875" y="1287575"/>
            <a:ext cx="6424800" cy="7848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Implement multiple regression models on the data to see which one performs well and find out the best one for this dataset.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86650" y="2679950"/>
            <a:ext cx="70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Business</a:t>
            </a: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Goal: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065875" y="3455200"/>
            <a:ext cx="6371400" cy="9696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Based on the analysis, suggest strategies to target right customers, develop specially curated products and marketing strategies, and make informed decision to increase revenue.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52300" y="359600"/>
            <a:ext cx="70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Our Dataset: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70" name="Google Shape;70;p15" title="Screenshot 2025-04-28 at 2.43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25" y="1213050"/>
            <a:ext cx="7385326" cy="189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903200" y="560625"/>
            <a:ext cx="4566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Merriweather"/>
                <a:ea typeface="Merriweather"/>
                <a:cs typeface="Merriweather"/>
                <a:sym typeface="Merriweather"/>
              </a:rPr>
              <a:t>127,089 rows with 20 variables (</a:t>
            </a:r>
            <a:r>
              <a:rPr b="1" lang="en-GB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initially</a:t>
            </a:r>
            <a:r>
              <a:rPr b="1" lang="en-GB" sz="1600"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33475" y="3607925"/>
            <a:ext cx="7192200" cy="9957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1 </a:t>
            </a: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Target Variable: “int_tgt”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12 Recency, Frequency, Monetary (RFM) Features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 Demographic Variables (Customer Characteristics)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52300" y="359600"/>
            <a:ext cx="70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Challenges in Preparing Data: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745450" y="1093600"/>
            <a:ext cx="7192200" cy="11484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Inconsistent data types across demographic and monetary fields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Missing values requiring appropriate imputation strategies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Outliers that could distort model performance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Binary variables needing standardization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52300" y="2670600"/>
            <a:ext cx="70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Solutions: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805100" y="3409500"/>
            <a:ext cx="7192200" cy="9564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String values converted to appropriate numeric values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Median imputation for numeric variables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IQR method to identify and handle outliers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50" y="1354297"/>
            <a:ext cx="4876676" cy="31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353825" y="344775"/>
            <a:ext cx="71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EDA: </a:t>
            </a: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Customer Age Distribution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113" y="1510600"/>
            <a:ext cx="4829775" cy="27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353825" y="344775"/>
            <a:ext cx="812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EDA: Age vs. Income Relationship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353825" y="344775"/>
            <a:ext cx="716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EDA: Home Ownership Patterns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88" y="1375050"/>
            <a:ext cx="4619625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6972" y="1212250"/>
            <a:ext cx="4250050" cy="364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353825" y="344775"/>
            <a:ext cx="675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EDA: Correlation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353825" y="344775"/>
            <a:ext cx="675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List of Implemented Models: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966675" y="1285325"/>
            <a:ext cx="2983200" cy="12264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Linear Regression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KNN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Random Forest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353825" y="344775"/>
            <a:ext cx="675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Model Selection and Performance</a:t>
            </a:r>
            <a:endParaRPr/>
          </a:p>
        </p:txBody>
      </p:sp>
      <p:pic>
        <p:nvPicPr>
          <p:cNvPr id="116" name="Google Shape;116;p22" title="Screenshot 2025-05-07 at 9.4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25" y="1547725"/>
            <a:ext cx="8367074" cy="20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00" y="1256975"/>
            <a:ext cx="6739675" cy="33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353825" y="344775"/>
            <a:ext cx="675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Model Selection and Performance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352300" y="359600"/>
            <a:ext cx="617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The Best Model: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1668625" y="1245425"/>
            <a:ext cx="5646300" cy="9366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K-Nearest Neighbors regression model demonstrates superior predictive performance for our banking sales potential analysis with a Test R² of 0.834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394775" y="2611550"/>
            <a:ext cx="617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 Simple Terms: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1668625" y="3455225"/>
            <a:ext cx="5646300" cy="9366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Our model identifies which customers are likely to generate higher sales, allowing us to invest our limited resources on those with the highest return potential.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352300" y="359600"/>
            <a:ext cx="66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Lessons Learned and Contribution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95850" y="1843100"/>
            <a:ext cx="8023500" cy="9123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lang="en-GB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Behavioral metrics outperform demographics in predicting sales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KNN is a superior predictor model for customer purchase predictions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Complex, non-linear relationships exist in customer purchasing behavior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95850" y="1335225"/>
            <a:ext cx="1269600" cy="4311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Key Lessons:</a:t>
            </a:r>
            <a:endParaRPr sz="16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95850" y="3679150"/>
            <a:ext cx="8023500" cy="11673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Mashiyat Alam Promi: For Analysis, report writing, slides, strategy and presentation: $240,000 (80%)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AI Assistance: Data Prep, Code </a:t>
            </a: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generation</a:t>
            </a:r>
            <a:r>
              <a:rPr lang="en-GB" sz="1600">
                <a:latin typeface="Merriweather"/>
                <a:ea typeface="Merriweather"/>
                <a:cs typeface="Merriweather"/>
                <a:sym typeface="Merriweather"/>
              </a:rPr>
              <a:t> and debugging suggestion: $60,000 (20%)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95850" y="3171275"/>
            <a:ext cx="1362300" cy="4311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Contribution:</a:t>
            </a:r>
            <a:endParaRPr sz="16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3373800" y="2202300"/>
            <a:ext cx="2396400" cy="738900"/>
          </a:xfrm>
          <a:prstGeom prst="rect">
            <a:avLst/>
          </a:prstGeom>
          <a:solidFill>
            <a:srgbClr val="EEEEEE">
              <a:alpha val="7532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THANK YOU!</a:t>
            </a:r>
            <a:endParaRPr sz="18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